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59" r:id="rId7"/>
    <p:sldId id="264" r:id="rId8"/>
    <p:sldId id="265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803" y="2274734"/>
            <a:ext cx="7772400" cy="1470025"/>
          </a:xfrm>
        </p:spPr>
        <p:txBody>
          <a:bodyPr>
            <a:normAutofit/>
          </a:bodyPr>
          <a:lstStyle/>
          <a:p>
            <a:r>
              <a:rPr lang="en-IN" sz="2700" b="1" dirty="0"/>
              <a:t>Key Insights, Graphs &amp; Conclusions</a:t>
            </a:r>
            <a:br>
              <a:rPr lang="en-IN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3613" y="3578942"/>
            <a:ext cx="6400800" cy="2561303"/>
          </a:xfrm>
        </p:spPr>
        <p:txBody>
          <a:bodyPr>
            <a:normAutofit/>
          </a:bodyPr>
          <a:lstStyle/>
          <a:p>
            <a:r>
              <a:rPr lang="en-IN" sz="4100" b="1" u="sng" dirty="0"/>
              <a:t>Topics covered</a:t>
            </a:r>
          </a:p>
          <a:p>
            <a:r>
              <a:rPr lang="en-IN" sz="1600" b="1" dirty="0"/>
              <a:t>FINANCIAL PERFORMANCE</a:t>
            </a:r>
          </a:p>
          <a:p>
            <a:r>
              <a:rPr lang="en-IN" sz="1600" b="1" dirty="0"/>
              <a:t>CUSTOMER INSIGHTS</a:t>
            </a:r>
          </a:p>
          <a:p>
            <a:r>
              <a:rPr lang="en-IN" sz="1600" b="1" dirty="0"/>
              <a:t>LOGISTICS &amp; FULFILLMENT</a:t>
            </a:r>
          </a:p>
          <a:p>
            <a:r>
              <a:rPr lang="en-IN" sz="1600" b="1" dirty="0"/>
              <a:t>PRODUCT MANAGEMENT </a:t>
            </a:r>
          </a:p>
          <a:p>
            <a:r>
              <a:rPr lang="en-IN" sz="1600" b="1" dirty="0"/>
              <a:t>CUSTOMER SATISFACTION</a:t>
            </a:r>
          </a:p>
          <a:p>
            <a:endParaRPr lang="en-IN" sz="1600" b="1" dirty="0"/>
          </a:p>
          <a:p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B49CAC-D92F-618A-04E9-D23F1EB1E5FE}"/>
              </a:ext>
            </a:extLst>
          </p:cNvPr>
          <p:cNvSpPr/>
          <p:nvPr/>
        </p:nvSpPr>
        <p:spPr>
          <a:xfrm>
            <a:off x="685800" y="412955"/>
            <a:ext cx="8094406" cy="15731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IN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E-commerce Sales Data Analysis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FFB3D8-70D5-D157-95B0-E62EC9A6AD3E}"/>
              </a:ext>
            </a:extLst>
          </p:cNvPr>
          <p:cNvSpPr txBox="1"/>
          <p:nvPr/>
        </p:nvSpPr>
        <p:spPr>
          <a:xfrm>
            <a:off x="963561" y="884903"/>
            <a:ext cx="75118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Statement:</a:t>
            </a:r>
          </a:p>
          <a:p>
            <a:r>
              <a:rPr lang="en-US" dirty="0"/>
              <a:t>The e-commerce company is facing multiple</a:t>
            </a:r>
          </a:p>
          <a:p>
            <a:r>
              <a:rPr lang="en-US" dirty="0"/>
              <a:t>operational challenges that hinder growth and</a:t>
            </a:r>
          </a:p>
          <a:p>
            <a:r>
              <a:rPr lang="en-IN" dirty="0"/>
              <a:t>customer satisfaction &amp; </a:t>
            </a:r>
            <a:r>
              <a:rPr lang="en-US" dirty="0"/>
              <a:t>to address these issues, the company is</a:t>
            </a:r>
          </a:p>
          <a:p>
            <a:r>
              <a:rPr lang="en-US" dirty="0"/>
              <a:t>leveraging data-driven insights to optimize</a:t>
            </a:r>
          </a:p>
          <a:p>
            <a:r>
              <a:rPr lang="en-IN" dirty="0"/>
              <a:t>operations.</a:t>
            </a:r>
          </a:p>
          <a:p>
            <a:endParaRPr lang="en-IN" dirty="0"/>
          </a:p>
          <a:p>
            <a:r>
              <a:rPr lang="en-IN" dirty="0"/>
              <a:t>Dataset provided is sales data.csv with columns like</a:t>
            </a:r>
          </a:p>
          <a:p>
            <a:r>
              <a:rPr lang="en-IN" dirty="0"/>
              <a:t>Order ID, Date, Status, Fulfilment, Sales Channel, ship-service-level, Style,</a:t>
            </a:r>
          </a:p>
          <a:p>
            <a:r>
              <a:rPr lang="en-IN" dirty="0"/>
              <a:t>SKU, Category, Size, Quantity, currency, Amount, ship-city, ship-state, ship-country, ship-postal-code, </a:t>
            </a:r>
            <a:r>
              <a:rPr lang="en-IN" dirty="0" err="1"/>
              <a:t>promotion_ids</a:t>
            </a:r>
            <a:r>
              <a:rPr lang="en-IN" dirty="0"/>
              <a:t>, B2B, </a:t>
            </a:r>
            <a:r>
              <a:rPr lang="en-IN" dirty="0" err="1"/>
              <a:t>fulfilled_by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Dataset Overview</a:t>
            </a:r>
          </a:p>
          <a:p>
            <a:r>
              <a:rPr lang="en-US" dirty="0"/>
              <a:t>• Total Orders: 1,20,352</a:t>
            </a:r>
          </a:p>
          <a:p>
            <a:r>
              <a:rPr lang="en-US" dirty="0"/>
              <a:t>• Cancelled Orders: 19,188</a:t>
            </a:r>
          </a:p>
          <a:p>
            <a:r>
              <a:rPr lang="en-US" dirty="0"/>
              <a:t>• Overall Cancellation %: 16%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60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FINANCIAL PERFORMANCE</a:t>
            </a:r>
            <a:br>
              <a:rPr lang="en-IN" b="1" dirty="0"/>
            </a:b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F6E2D9-DCD8-B048-7044-93D2056D6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5194" y="846138"/>
            <a:ext cx="4848806" cy="2727453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340B73-D0C2-83D4-E846-21E37A518C4B}"/>
              </a:ext>
            </a:extLst>
          </p:cNvPr>
          <p:cNvSpPr txBox="1"/>
          <p:nvPr/>
        </p:nvSpPr>
        <p:spPr>
          <a:xfrm>
            <a:off x="363794" y="1278194"/>
            <a:ext cx="39314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histogram shows that most customers place orders in the </a:t>
            </a:r>
            <a:r>
              <a:rPr lang="en-US" sz="1400" b="1" dirty="0"/>
              <a:t>₹250–₹1,000</a:t>
            </a:r>
            <a:r>
              <a:rPr lang="en-US" sz="1400" dirty="0"/>
              <a:t> range, with some customers placing orders </a:t>
            </a:r>
            <a:r>
              <a:rPr lang="en-US" sz="1400" b="1" dirty="0"/>
              <a:t>exceeding ₹3,000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customers </a:t>
            </a:r>
            <a:r>
              <a:rPr lang="en-US" sz="1400" b="1" dirty="0"/>
              <a:t>accepted the delivery</a:t>
            </a:r>
            <a:r>
              <a:rPr lang="en-US" sz="1400" dirty="0"/>
              <a:t> rather than canceling their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Orders are </a:t>
            </a:r>
            <a:r>
              <a:rPr lang="en-US" sz="1400" b="1" dirty="0"/>
              <a:t>primarily fulfilled by Amazon</a:t>
            </a:r>
            <a:r>
              <a:rPr lang="en-US" sz="1400" dirty="0"/>
              <a:t>, followed by the </a:t>
            </a:r>
            <a:r>
              <a:rPr lang="en-US" sz="1400" b="1" dirty="0"/>
              <a:t>Expedited</a:t>
            </a:r>
            <a:r>
              <a:rPr lang="en-US" sz="1400" dirty="0"/>
              <a:t> fulfillment facility.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Sets and kurtas</a:t>
            </a:r>
            <a:r>
              <a:rPr lang="en-US" sz="1400" dirty="0"/>
              <a:t> are the most frequently ordered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Size M</a:t>
            </a:r>
            <a:r>
              <a:rPr lang="en-US" sz="1400" dirty="0"/>
              <a:t> is the most ordered size, indicating a higher proportion of customers preferring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highest number of orders</a:t>
            </a:r>
            <a:r>
              <a:rPr lang="en-US" sz="1400" dirty="0"/>
              <a:t> originate from </a:t>
            </a:r>
            <a:r>
              <a:rPr lang="en-US" sz="1400" b="1" dirty="0"/>
              <a:t>Maharashtra, Karnataka, and Tamil Nadu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8C4C87-3EB5-2458-1EAA-D43EE822F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5" y="3573590"/>
            <a:ext cx="5161935" cy="3284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F52EC5-121D-B69E-095A-0ABF39DF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" y="68826"/>
            <a:ext cx="9068586" cy="4345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1442CC-F2AF-3F5E-B8A2-7139E9463174}"/>
              </a:ext>
            </a:extLst>
          </p:cNvPr>
          <p:cNvSpPr txBox="1"/>
          <p:nvPr/>
        </p:nvSpPr>
        <p:spPr>
          <a:xfrm>
            <a:off x="147484" y="4414684"/>
            <a:ext cx="88097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this analysis, </a:t>
            </a:r>
            <a:r>
              <a:rPr lang="en-US" sz="1400" b="1" dirty="0"/>
              <a:t>realized revenue</a:t>
            </a:r>
            <a:r>
              <a:rPr lang="en-US" sz="1400" dirty="0"/>
              <a:t> is defined as orders with status </a:t>
            </a:r>
            <a:r>
              <a:rPr lang="en-US" sz="1400" b="1" dirty="0"/>
              <a:t>“Shipped – Delivered to Buyer”</a:t>
            </a:r>
            <a:r>
              <a:rPr lang="en-US" sz="1400" dirty="0"/>
              <a:t> and </a:t>
            </a:r>
            <a:r>
              <a:rPr lang="en-US" sz="1400" b="1" dirty="0"/>
              <a:t>“Shipped”</a:t>
            </a:r>
            <a:r>
              <a:rPr lang="en-US" sz="1400" dirty="0"/>
              <a:t>; it </a:t>
            </a:r>
            <a:r>
              <a:rPr lang="en-US" sz="1400" b="1" dirty="0"/>
              <a:t>peaks at ₹26M in April</a:t>
            </a:r>
            <a:r>
              <a:rPr lang="en-US" sz="1400" dirty="0"/>
              <a:t> and </a:t>
            </a:r>
            <a:r>
              <a:rPr lang="en-US" sz="1400" b="1" dirty="0"/>
              <a:t>declines in the subsequent months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value of canceled orders </a:t>
            </a:r>
            <a:r>
              <a:rPr lang="en-US" sz="1400" b="1" dirty="0"/>
              <a:t>decreased from ₹5M in April to ₹4M in May and ₹3.8M in June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Orders </a:t>
            </a:r>
            <a:r>
              <a:rPr lang="en-US" sz="1400" b="1" dirty="0"/>
              <a:t>in process</a:t>
            </a:r>
            <a:r>
              <a:rPr lang="en-US" sz="1400" dirty="0"/>
              <a:t>, defined as statuses </a:t>
            </a:r>
            <a:r>
              <a:rPr lang="en-US" sz="1400" b="1" dirty="0"/>
              <a:t>“Shipped – Lost in Transit,” “Shipped – Out for Delivery,” “Shipped – Picked Up,” “Pending,” “Pending – Waiting for Pick Up,” “Shipped – Damaged,” and “Shipping,”</a:t>
            </a:r>
            <a:r>
              <a:rPr lang="en-US" sz="1400" dirty="0"/>
              <a:t> amount to </a:t>
            </a:r>
            <a:r>
              <a:rPr lang="en-US" sz="1400" b="1" dirty="0"/>
              <a:t>₹18K in April and May</a:t>
            </a:r>
            <a:r>
              <a:rPr lang="en-US" sz="1400" dirty="0"/>
              <a:t>, rising sharply to </a:t>
            </a:r>
            <a:r>
              <a:rPr lang="en-US" sz="1400" b="1" dirty="0"/>
              <a:t>₹1.3M in June</a:t>
            </a:r>
            <a:r>
              <a:rPr lang="en-US" sz="1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1879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6696" y="0"/>
            <a:ext cx="5304503" cy="562231"/>
          </a:xfrm>
        </p:spPr>
        <p:txBody>
          <a:bodyPr>
            <a:normAutofit/>
          </a:bodyPr>
          <a:lstStyle/>
          <a:p>
            <a:r>
              <a:rPr sz="1800" dirty="0"/>
              <a:t>Revenue by Day of Week</a:t>
            </a:r>
          </a:p>
        </p:txBody>
      </p:sp>
      <p:pic>
        <p:nvPicPr>
          <p:cNvPr id="3" name="Picture 2" descr="revenu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039" y="471283"/>
            <a:ext cx="4925961" cy="295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9BAAC-9C73-FE54-C06F-A678EFE90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48" y="3556152"/>
            <a:ext cx="4383551" cy="2957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74E029-A05F-1F0C-59ED-3B10B119E707}"/>
              </a:ext>
            </a:extLst>
          </p:cNvPr>
          <p:cNvSpPr txBox="1"/>
          <p:nvPr/>
        </p:nvSpPr>
        <p:spPr>
          <a:xfrm>
            <a:off x="265470" y="668593"/>
            <a:ext cx="37755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Revenue is </a:t>
            </a:r>
            <a:r>
              <a:rPr lang="en-US" sz="1400" b="1" dirty="0"/>
              <a:t>highest on Sundays</a:t>
            </a:r>
            <a:r>
              <a:rPr lang="en-US" sz="1400" dirty="0"/>
              <a:t> relative to the rest of the week.</a:t>
            </a:r>
          </a:p>
          <a:p>
            <a:endParaRPr lang="en-US" sz="1400" dirty="0"/>
          </a:p>
          <a:p>
            <a:r>
              <a:rPr lang="en-US" sz="1400" dirty="0"/>
              <a:t>JNE3797, J0230, SET268 are top 3 styles generating revenue of 2.4m, 1.8m, 1.2m.</a:t>
            </a:r>
          </a:p>
          <a:p>
            <a:endParaRPr lang="en-US" sz="1400" dirty="0"/>
          </a:p>
          <a:p>
            <a:r>
              <a:rPr lang="en-US" sz="1400" dirty="0"/>
              <a:t>Most ordered category is SET in Apr, May, Jun followed by kurta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8658AB-5A3C-06D5-50D3-A6F594BBC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942490"/>
            <a:ext cx="4837471" cy="3915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b="1" dirty="0"/>
              <a:t>Customer Insights</a:t>
            </a:r>
            <a:br>
              <a:rPr lang="en-IN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3F6F5-C41A-DB2F-B39C-10DC35B9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5" y="782926"/>
            <a:ext cx="6613776" cy="3720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B25FA8-7713-53AA-12C1-1C6871BB7917}"/>
              </a:ext>
            </a:extLst>
          </p:cNvPr>
          <p:cNvSpPr txBox="1"/>
          <p:nvPr/>
        </p:nvSpPr>
        <p:spPr>
          <a:xfrm>
            <a:off x="570271" y="4336026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JNE3797</a:t>
            </a:r>
            <a:r>
              <a:rPr lang="en-US" sz="1400" dirty="0"/>
              <a:t> in sizes </a:t>
            </a:r>
            <a:r>
              <a:rPr lang="en-US" sz="1400" b="1" dirty="0"/>
              <a:t>S, M, L, and XL</a:t>
            </a:r>
            <a:r>
              <a:rPr lang="en-US" sz="1400" dirty="0"/>
              <a:t> is the most liked style, followed by </a:t>
            </a:r>
            <a:r>
              <a:rPr lang="en-US" sz="1400" b="1" dirty="0"/>
              <a:t>J0230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most cancelled categories are </a:t>
            </a:r>
            <a:r>
              <a:rPr lang="en-US" sz="1400" b="1" dirty="0"/>
              <a:t>Set (16%)</a:t>
            </a:r>
            <a:r>
              <a:rPr lang="en-US" sz="1400" dirty="0"/>
              <a:t>, </a:t>
            </a:r>
            <a:r>
              <a:rPr lang="en-US" sz="1400" b="1" dirty="0"/>
              <a:t>Kurta (16%)</a:t>
            </a:r>
            <a:r>
              <a:rPr lang="en-US" sz="1400" dirty="0"/>
              <a:t>, and </a:t>
            </a:r>
            <a:r>
              <a:rPr lang="en-US" sz="1400" b="1" dirty="0"/>
              <a:t>Western Dress (15%)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terms of volume, the most cancelled sizes are </a:t>
            </a:r>
            <a:r>
              <a:rPr lang="en-US" sz="1400" b="1" dirty="0"/>
              <a:t>XS (18%)</a:t>
            </a:r>
            <a:r>
              <a:rPr lang="en-US" sz="1400" dirty="0"/>
              <a:t>, </a:t>
            </a:r>
            <a:r>
              <a:rPr lang="en-US" sz="1400" b="1" dirty="0"/>
              <a:t>S (16%)</a:t>
            </a:r>
            <a:r>
              <a:rPr lang="en-US" sz="1400" dirty="0"/>
              <a:t>, </a:t>
            </a:r>
            <a:r>
              <a:rPr lang="en-US" sz="1400" b="1" dirty="0"/>
              <a:t>M (16%)</a:t>
            </a:r>
            <a:r>
              <a:rPr lang="en-US" sz="1400" dirty="0"/>
              <a:t>, and </a:t>
            </a:r>
            <a:r>
              <a:rPr lang="en-US" sz="1400" b="1" dirty="0"/>
              <a:t>L (15%)</a:t>
            </a:r>
            <a:r>
              <a:rPr lang="en-US" sz="1400" dirty="0"/>
              <a:t>, while </a:t>
            </a:r>
            <a:r>
              <a:rPr lang="en-US" sz="1400" b="1" dirty="0"/>
              <a:t>6XL, 5XL, and 4XL</a:t>
            </a:r>
            <a:r>
              <a:rPr lang="en-US" sz="1400" dirty="0"/>
              <a:t> show the </a:t>
            </a:r>
            <a:r>
              <a:rPr lang="en-US" sz="1400" b="1" dirty="0"/>
              <a:t>highest cancellation rates (&gt;75%)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Fulfilled by Amazon</a:t>
            </a:r>
            <a:r>
              <a:rPr lang="en-US" sz="1400" dirty="0"/>
              <a:t> orders have a </a:t>
            </a:r>
            <a:r>
              <a:rPr lang="en-US" sz="1400" b="1" dirty="0"/>
              <a:t>12% cancellation rate</a:t>
            </a:r>
            <a:r>
              <a:rPr lang="en-US" sz="1400" dirty="0"/>
              <a:t>, compared to </a:t>
            </a:r>
            <a:r>
              <a:rPr lang="en-US" sz="1400" b="1" dirty="0"/>
              <a:t>22% for Merchant-fulfilled</a:t>
            </a:r>
            <a:r>
              <a:rPr lang="en-US" sz="1400" dirty="0"/>
              <a:t>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Average Order Value (AOV)</a:t>
            </a:r>
            <a:r>
              <a:rPr lang="en-US" sz="1400" dirty="0"/>
              <a:t> is higher for </a:t>
            </a:r>
            <a:r>
              <a:rPr lang="en-US" sz="1400" b="1" dirty="0"/>
              <a:t>B2B (₹703)</a:t>
            </a:r>
            <a:r>
              <a:rPr lang="en-US" sz="1400" dirty="0"/>
              <a:t> than for </a:t>
            </a:r>
            <a:r>
              <a:rPr lang="en-US" sz="1400" b="1" dirty="0"/>
              <a:t>B2C (₹660)</a:t>
            </a:r>
            <a:r>
              <a:rPr lang="en-US" sz="1400" dirty="0"/>
              <a:t>.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09F3-9713-2235-D2BD-8A6FA47D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Logistic &amp; Fulfilment Optimization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7E37B-9CB7-DCA7-10DF-6194D3B02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3058"/>
            <a:ext cx="8229600" cy="5133105"/>
          </a:xfrm>
        </p:spPr>
        <p:txBody>
          <a:bodyPr>
            <a:normAutofit/>
          </a:bodyPr>
          <a:lstStyle/>
          <a:p>
            <a:r>
              <a:rPr lang="en-US" sz="1400" b="1" dirty="0"/>
              <a:t>Amazon-fulfilled orders</a:t>
            </a:r>
            <a:r>
              <a:rPr lang="en-US" sz="1400" dirty="0"/>
              <a:t> show a higher success rate (</a:t>
            </a:r>
            <a:r>
              <a:rPr lang="en-US" sz="1400" b="1" dirty="0"/>
              <a:t>86%</a:t>
            </a:r>
            <a:r>
              <a:rPr lang="en-US" sz="1400" dirty="0"/>
              <a:t>) compared to </a:t>
            </a:r>
            <a:r>
              <a:rPr lang="en-US" sz="1400" b="1" dirty="0"/>
              <a:t>Merchant-fulfilled orders (73%)</a:t>
            </a:r>
            <a:r>
              <a:rPr lang="en-US" sz="1400" dirty="0"/>
              <a:t>, with </a:t>
            </a:r>
            <a:r>
              <a:rPr lang="en-US" sz="1400" b="1" dirty="0"/>
              <a:t>0.4%</a:t>
            </a:r>
            <a:r>
              <a:rPr lang="en-US" sz="1400" dirty="0"/>
              <a:t> and </a:t>
            </a:r>
            <a:r>
              <a:rPr lang="en-US" sz="1400" b="1" dirty="0"/>
              <a:t>4%</a:t>
            </a:r>
            <a:r>
              <a:rPr lang="en-US" sz="1400" dirty="0"/>
              <a:t> of orders respectively still </a:t>
            </a:r>
            <a:r>
              <a:rPr lang="en-US" sz="1400" b="1" dirty="0"/>
              <a:t>in process</a:t>
            </a:r>
            <a:r>
              <a:rPr lang="en-US" sz="1400" dirty="0"/>
              <a:t>.</a:t>
            </a:r>
            <a:endParaRPr lang="en-IN" sz="1400" dirty="0"/>
          </a:p>
          <a:p>
            <a:r>
              <a:rPr lang="en-US" sz="1400" dirty="0"/>
              <a:t>A total of </a:t>
            </a:r>
            <a:r>
              <a:rPr lang="en-US" sz="1400" b="1" dirty="0"/>
              <a:t>89,672 orders</a:t>
            </a:r>
            <a:r>
              <a:rPr lang="en-US" sz="1400" dirty="0"/>
              <a:t> are fulfilled by </a:t>
            </a:r>
            <a:r>
              <a:rPr lang="en-US" sz="1400" b="1" dirty="0"/>
              <a:t>Amazon</a:t>
            </a:r>
            <a:r>
              <a:rPr lang="en-US" sz="1400" dirty="0"/>
              <a:t>, while </a:t>
            </a:r>
            <a:r>
              <a:rPr lang="en-US" sz="1400" b="1" dirty="0"/>
              <a:t>39,270 orders</a:t>
            </a:r>
            <a:r>
              <a:rPr lang="en-US" sz="1400" dirty="0"/>
              <a:t> are fulfilled by </a:t>
            </a:r>
            <a:r>
              <a:rPr lang="en-US" sz="1400" b="1" dirty="0"/>
              <a:t>Merchants</a:t>
            </a:r>
            <a:r>
              <a:rPr lang="en-US" sz="1400" dirty="0"/>
              <a:t>.</a:t>
            </a:r>
            <a:endParaRPr lang="en-IN" sz="1400" dirty="0"/>
          </a:p>
          <a:p>
            <a:r>
              <a:rPr lang="en-US" sz="1400" dirty="0"/>
              <a:t>The </a:t>
            </a:r>
            <a:r>
              <a:rPr lang="en-US" sz="1400" b="1" dirty="0"/>
              <a:t>Average Order Value (AOV)</a:t>
            </a:r>
            <a:r>
              <a:rPr lang="en-US" sz="1400" dirty="0"/>
              <a:t> is </a:t>
            </a:r>
            <a:r>
              <a:rPr lang="en-US" sz="1400" b="1" dirty="0"/>
              <a:t>nearly identical</a:t>
            </a:r>
            <a:r>
              <a:rPr lang="en-US" sz="1400" dirty="0"/>
              <a:t> for both </a:t>
            </a:r>
            <a:r>
              <a:rPr lang="en-US" sz="1400" b="1" dirty="0"/>
              <a:t>Amazon- and Merchant-fulfilled</a:t>
            </a:r>
            <a:r>
              <a:rPr lang="en-US" sz="1400" dirty="0"/>
              <a:t> orders.</a:t>
            </a:r>
            <a:endParaRPr lang="en-IN" sz="1400" dirty="0"/>
          </a:p>
          <a:p>
            <a:r>
              <a:rPr lang="en-US" sz="1400" dirty="0"/>
              <a:t>This indicates that </a:t>
            </a:r>
            <a:r>
              <a:rPr lang="en-US" sz="1400" b="1" dirty="0"/>
              <a:t>fulfilment choice significantly impacts realized revenue</a:t>
            </a:r>
            <a:r>
              <a:rPr lang="en-US" sz="1400" dirty="0"/>
              <a:t>, with </a:t>
            </a:r>
            <a:r>
              <a:rPr lang="en-US" sz="1400" b="1" dirty="0"/>
              <a:t>Amazon being more reliable than merchant fulfilment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0B372-98CC-ED9E-53A4-FDD7CF4A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44" y="3028335"/>
            <a:ext cx="6738853" cy="3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8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C4FE-3911-FDCD-C5F4-A3F10BBC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700" b="1" dirty="0"/>
              <a:t>PRODUCT MANAGEMENT &amp; INVENTORY OPTIMIZATION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046338-67BB-50EB-177B-BCCDE0AC3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7871" y="1013774"/>
            <a:ext cx="4458929" cy="25848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7E10DB-2828-3CE1-D738-A066A0E44855}"/>
              </a:ext>
            </a:extLst>
          </p:cNvPr>
          <p:cNvSpPr txBox="1"/>
          <p:nvPr/>
        </p:nvSpPr>
        <p:spPr>
          <a:xfrm>
            <a:off x="304799" y="1268361"/>
            <a:ext cx="39230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Top 3 styles sold the most by quantities are JNE3797,JNE3405,SET268 indicating high demand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Avg</a:t>
            </a:r>
            <a:r>
              <a:rPr lang="en-IN" sz="1400" dirty="0"/>
              <a:t> order qty for styles BL017,BL020 of category Blouse is 2, whereas for other categories like saree, set etc is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AN201,AN202,AN203,AN204,AN205 are slow movers which has very less demand which indicates overstock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Most successful category of order fulfilment is Dupatta with 100% successful order without return or cancellation.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SET195, JNE3475, JNE3608 are most cancelled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54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Strengthen weekend promotions</a:t>
            </a:r>
            <a:r>
              <a:rPr lang="en-IN" sz="2000" dirty="0"/>
              <a:t>.</a:t>
            </a:r>
            <a:endParaRPr sz="2000" dirty="0"/>
          </a:p>
          <a:p>
            <a:r>
              <a:rPr sz="2000" dirty="0"/>
              <a:t>Improve fulfilment to reduce cancellations</a:t>
            </a:r>
            <a:r>
              <a:rPr lang="en-IN" sz="2000" dirty="0"/>
              <a:t>.</a:t>
            </a:r>
            <a:endParaRPr sz="2000" dirty="0"/>
          </a:p>
          <a:p>
            <a:r>
              <a:rPr sz="2000" dirty="0"/>
              <a:t>Align inventory with demand patterns</a:t>
            </a:r>
            <a:r>
              <a:rPr lang="en-IN" sz="2000" dirty="0"/>
              <a:t>.</a:t>
            </a:r>
            <a:endParaRPr sz="2000" dirty="0"/>
          </a:p>
          <a:p>
            <a:r>
              <a:rPr sz="2000" dirty="0"/>
              <a:t>Use insights for data-driven decisions</a:t>
            </a:r>
            <a:r>
              <a:rPr lang="en-IN" sz="2000" dirty="0"/>
              <a:t>.</a:t>
            </a:r>
          </a:p>
          <a:p>
            <a:r>
              <a:rPr lang="en-IN" sz="2000" dirty="0"/>
              <a:t>Improve product quality checks, fit, or expectation mismatch for High-return categories as </a:t>
            </a:r>
            <a:r>
              <a:rPr lang="en-US" sz="2000" dirty="0"/>
              <a:t>these categories require priority intervention.</a:t>
            </a:r>
            <a:endParaRPr lang="en-IN" sz="2000" dirty="0"/>
          </a:p>
          <a:p>
            <a:r>
              <a:rPr lang="en-IN" sz="2000" dirty="0"/>
              <a:t>Update size charts &amp; visuals.</a:t>
            </a:r>
          </a:p>
          <a:p>
            <a:r>
              <a:rPr lang="en-IN" sz="2000" dirty="0"/>
              <a:t>Pause promotions, review supplier for Problematic styles.</a:t>
            </a:r>
          </a:p>
          <a:p>
            <a:r>
              <a:rPr lang="en-IN" sz="2000" dirty="0"/>
              <a:t>Enforce stricter SLAs for Merchant fulfilment.</a:t>
            </a:r>
          </a:p>
          <a:p>
            <a:r>
              <a:rPr lang="en-IN" sz="2000" dirty="0"/>
              <a:t>Improve descriptions &amp; reviews for Low-confidence orders.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B34DA-8D67-140F-1094-979E2E2DC05F}"/>
              </a:ext>
            </a:extLst>
          </p:cNvPr>
          <p:cNvSpPr txBox="1"/>
          <p:nvPr/>
        </p:nvSpPr>
        <p:spPr>
          <a:xfrm>
            <a:off x="2595716" y="2764700"/>
            <a:ext cx="5142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83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793</Words>
  <Application>Microsoft Office PowerPoint</Application>
  <PresentationFormat>On-screen Show (4:3)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Key Insights, Graphs &amp; Conclusions </vt:lpstr>
      <vt:lpstr>PowerPoint Presentation</vt:lpstr>
      <vt:lpstr>FINANCIAL PERFORMANCE </vt:lpstr>
      <vt:lpstr>PowerPoint Presentation</vt:lpstr>
      <vt:lpstr>Revenue by Day of Week</vt:lpstr>
      <vt:lpstr>Customer Insights </vt:lpstr>
      <vt:lpstr>Logistic &amp; Fulfilment Optimization </vt:lpstr>
      <vt:lpstr>PRODUCT MANAGEMENT &amp; INVENTORY OPTIMIZATION </vt:lpstr>
      <vt:lpstr>Conclusion &amp; 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mousumi dash</dc:creator>
  <cp:keywords/>
  <dc:description>generated using python-pptx</dc:description>
  <cp:lastModifiedBy>mousumi dash</cp:lastModifiedBy>
  <cp:revision>12</cp:revision>
  <dcterms:created xsi:type="dcterms:W3CDTF">2013-01-27T09:14:16Z</dcterms:created>
  <dcterms:modified xsi:type="dcterms:W3CDTF">2026-01-29T14:51:11Z</dcterms:modified>
  <cp:category/>
</cp:coreProperties>
</file>